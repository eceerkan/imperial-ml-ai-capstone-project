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F86"/>
          </a:solidFill>
          <a:ln w="12700">
            <a:solidFill>
              <a:srgbClr val="007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9768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better answers with fewer experiments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6382512"/>
            <a:ext cx="1088136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BBO CAPSTONE  •  WEEKS 1–12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7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938528"/>
            <a:ext cx="5486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Maximise eight unknown functions,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2 to 8 input dimensions.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query costs an evaluation. We only learn how a function behaves by testing an input and observing its output.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92240" y="1645920"/>
            <a:ext cx="48463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E4EA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1847088"/>
            <a:ext cx="64008" cy="320040"/>
          </a:xfrm>
          <a:prstGeom prst="rect">
            <a:avLst/>
          </a:prstGeom>
          <a:solidFill>
            <a:srgbClr val="007F86"/>
          </a:solidFill>
          <a:ln w="12700">
            <a:solidFill>
              <a:srgbClr val="007F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847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iterative learning loop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2340864"/>
            <a:ext cx="4206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Start with provided input–output data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Model promising regions using a Gaussian Process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Propose a query using Expected Improvement and judgement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Observe the result, compare, and update the next decision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166360"/>
            <a:ext cx="3749040" cy="384048"/>
          </a:xfrm>
          <a:prstGeom prst="roundRect">
            <a:avLst>
              <a:gd name="adj" fmla="val 28571"/>
            </a:avLst>
          </a:prstGeom>
          <a:solidFill>
            <a:srgbClr val="DDF4F0"/>
          </a:solidFill>
          <a:ln w="12700">
            <a:solidFill>
              <a:srgbClr val="DDF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2440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QUERY PER FUNCTION / ROUND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512978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means the best observed value, not a guaranteed global optimum.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F86"/>
          </a:solidFill>
          <a:ln w="12700">
            <a:solidFill>
              <a:srgbClr val="007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9768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EVOLUTION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broad exploration to targeted refinement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6382512"/>
            <a:ext cx="1088136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BBO CAPSTONE  •  WEEKS 1–12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0160">
            <a:solidFill>
              <a:srgbClr val="E4EA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892808"/>
            <a:ext cx="64008" cy="320040"/>
          </a:xfrm>
          <a:prstGeom prst="rect">
            <a:avLst/>
          </a:prstGeom>
          <a:solidFill>
            <a:srgbClr val="4D75BC"/>
          </a:solidFill>
          <a:ln w="12700">
            <a:solidFill>
              <a:srgbClr val="4D75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89280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widely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386584"/>
            <a:ext cx="28529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initial data to learn where performance might be strong.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4773168"/>
            <a:ext cx="1307592" cy="384048"/>
          </a:xfrm>
          <a:prstGeom prst="roundRect">
            <a:avLst>
              <a:gd name="adj" fmla="val 28571"/>
            </a:avLst>
          </a:prstGeom>
          <a:solidFill>
            <a:srgbClr val="E7EDF9"/>
          </a:solidFill>
          <a:ln w="12700">
            <a:solidFill>
              <a:srgbClr val="E7ED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850892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7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53712" y="169164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0160">
            <a:solidFill>
              <a:srgbClr val="E4EA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6592" y="1892808"/>
            <a:ext cx="64008" cy="320040"/>
          </a:xfrm>
          <a:prstGeom prst="rect">
            <a:avLst/>
          </a:prstGeom>
          <a:solidFill>
            <a:srgbClr val="E88D4A"/>
          </a:solidFill>
          <a:ln w="12700">
            <a:solidFill>
              <a:srgbClr val="E88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89280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from feedback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19472" y="2386584"/>
            <a:ext cx="28529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each round with historical bests; mix GP / EI guidance with manual checks.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28032" y="4773168"/>
            <a:ext cx="1307592" cy="384048"/>
          </a:xfrm>
          <a:prstGeom prst="roundRect">
            <a:avLst>
              <a:gd name="adj" fmla="val 28571"/>
            </a:avLst>
          </a:prstGeom>
          <a:solidFill>
            <a:srgbClr val="E7EDF9"/>
          </a:solidFill>
          <a:ln w="12700">
            <a:solidFill>
              <a:srgbClr val="E7ED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4850892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7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21624" y="169164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0160">
            <a:solidFill>
              <a:srgbClr val="E4EA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04504" y="1892808"/>
            <a:ext cx="64008" cy="320040"/>
          </a:xfrm>
          <a:prstGeom prst="rect">
            <a:avLst/>
          </a:prstGeom>
          <a:solidFill>
            <a:srgbClr val="007F86"/>
          </a:solidFill>
          <a:ln w="12700">
            <a:solidFill>
              <a:srgbClr val="007F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87384" y="1892808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Tailor each function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87384" y="2386584"/>
            <a:ext cx="28529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 strong regions; revisit earlier bests when a new query performs worse.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95944" y="4773168"/>
            <a:ext cx="1307592" cy="384048"/>
          </a:xfrm>
          <a:prstGeom prst="roundRect">
            <a:avLst>
              <a:gd name="adj" fmla="val 28571"/>
            </a:avLst>
          </a:prstGeom>
          <a:solidFill>
            <a:srgbClr val="DDF4F0"/>
          </a:solidFill>
          <a:ln w="12700">
            <a:solidFill>
              <a:srgbClr val="DDF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87384" y="4850892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513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heuristics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43200" y="5504688"/>
            <a:ext cx="8503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improvement  •  Explore after weak results  •  Avoid exact zeros  •  Validate formatting and dimensions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F86"/>
          </a:solidFill>
          <a:ln w="12700">
            <a:solidFill>
              <a:srgbClr val="007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9768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DATA &amp;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evidence points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6382512"/>
            <a:ext cx="1088136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BBO CAPSTONE  •  WEEKS 1–12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499616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changes: initial best → best observed by Week 12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1071676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4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3055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7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74520" y="212140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1,088.86  →  8,282.12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983480" y="2084832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values in all four inputs repeatedly worked.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2935224"/>
            <a:ext cx="10716768" cy="804672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 w="6350">
            <a:solidFill>
              <a:srgbClr val="E4EA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09981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7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74520" y="3090672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1.365  →  2.436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983480" y="3054096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recurring low-first-input region performed well.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904488"/>
            <a:ext cx="1071676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4EA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0690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7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74520" y="405993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−4.026  →  0.633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983480" y="402336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tight middle-input combination improved steadily.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4873752"/>
            <a:ext cx="10716768" cy="804672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 w="6350">
            <a:solidFill>
              <a:srgbClr val="E4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03834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7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F8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874520" y="502920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9.598  →  9.991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983480" y="4992624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results emerged from several nearby configurations.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9808" y="6089904"/>
            <a:ext cx="10515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promising input combinations are emerging, but dimension importance is inferred—not formally proven.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F86"/>
          </a:solidFill>
          <a:ln w="12700">
            <a:solidFill>
              <a:srgbClr val="007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9768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DECISIONS &amp; ITERATION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Balancing discovery with reliability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6382512"/>
            <a:ext cx="1088136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BBO CAPSTONE  •  WEEKS 1–12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5285232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0160">
            <a:solidFill>
              <a:srgbClr val="E4EA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892808"/>
            <a:ext cx="64008" cy="320040"/>
          </a:xfrm>
          <a:prstGeom prst="rect">
            <a:avLst/>
          </a:prstGeom>
          <a:solidFill>
            <a:srgbClr val="007F86"/>
          </a:solidFill>
          <a:ln w="12700">
            <a:solidFill>
              <a:srgbClr val="007F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8928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Exploit when evidence is strong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386584"/>
            <a:ext cx="46451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F5: the all-high setting returned 8,282.12 repeatedly. Changing its first parameter to 0.985 in Week 11 lowered the result to 8,099.25.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return to the better boundary setting.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285232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0160">
            <a:solidFill>
              <a:srgbClr val="E4EA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892808"/>
            <a:ext cx="64008" cy="320040"/>
          </a:xfrm>
          <a:prstGeom prst="rect">
            <a:avLst/>
          </a:prstGeom>
          <a:solidFill>
            <a:srgbClr val="E88D4A"/>
          </a:solidFill>
          <a:ln w="12700">
            <a:solidFill>
              <a:srgbClr val="E88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8928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 when local moves disappoint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2386584"/>
            <a:ext cx="46451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F6: a Week 10 query reached −0.1122, then later nearby trials performed worse.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move back toward the best historical region, while acknowledging noisy or nonlinear responses.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5349240"/>
            <a:ext cx="1737360" cy="384048"/>
          </a:xfrm>
          <a:prstGeom prst="roundRect">
            <a:avLst>
              <a:gd name="adj" fmla="val 28571"/>
            </a:avLst>
          </a:prstGeom>
          <a:solidFill>
            <a:srgbClr val="E8EFFA"/>
          </a:solidFill>
          <a:ln w="12700">
            <a:solidFill>
              <a:srgbClr val="E8EF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42696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75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88920" y="5404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 / stagnant regions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96128" y="5349240"/>
            <a:ext cx="1737360" cy="384048"/>
          </a:xfrm>
          <a:prstGeom prst="roundRect">
            <a:avLst>
              <a:gd name="adj" fmla="val 28571"/>
            </a:avLst>
          </a:prstGeom>
          <a:solidFill>
            <a:srgbClr val="DDF4F0"/>
          </a:solidFill>
          <a:ln w="12700">
            <a:solidFill>
              <a:srgbClr val="DDF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542696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79792" y="54041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repeatably successful regions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59070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single rule works equally well for all eight functions.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F86"/>
          </a:solidFill>
          <a:ln w="12700">
            <a:solidFill>
              <a:srgbClr val="007F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29768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Final-round plan and what the project shows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6382512"/>
            <a:ext cx="10881360" cy="0"/>
          </a:xfrm>
          <a:prstGeom prst="line">
            <a:avLst/>
          </a:prstGeom>
          <a:noFill/>
          <a:ln w="12700">
            <a:solidFill>
              <a:srgbClr val="E4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BBO CAPSTONE  •  WEEKS 1–12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73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55448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0160">
            <a:solidFill>
              <a:srgbClr val="E4EA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755648"/>
            <a:ext cx="64008" cy="320040"/>
          </a:xfrm>
          <a:prstGeom prst="rect">
            <a:avLst/>
          </a:prstGeom>
          <a:solidFill>
            <a:srgbClr val="007F86"/>
          </a:solidFill>
          <a:ln w="12700">
            <a:solidFill>
              <a:srgbClr val="007F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755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experiments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Refine near the best F2, F3, F4 and F8 observations.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Revisit F6’s Week 10 best and the strongest F7 region.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Avoid repeating F5’s identical point unless checking stability; test a purposeful nearby alternative if needed.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full query history, model settings and the rationale behind each decision.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5102352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0160">
            <a:solidFill>
              <a:srgbClr val="E4EA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755648"/>
            <a:ext cx="64008" cy="320040"/>
          </a:xfrm>
          <a:prstGeom prst="rect">
            <a:avLst/>
          </a:prstGeom>
          <a:solidFill>
            <a:srgbClr val="4D75BC"/>
          </a:solidFill>
          <a:ln w="12700">
            <a:solidFill>
              <a:srgbClr val="4D75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755648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Broader ML lessons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66560" y="2249424"/>
            <a:ext cx="446227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Bayesian optimisation helps choose informative experiments when labelled observations are scarce or costly.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Gaussian Processes connect prediction with uncertainty, but local optima, limited coverage and modelling assumptions remain risks.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useful lesson is a repeatable decision process—not just a high score.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8952" y="572414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stakeholders: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57984" y="5715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23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a simple “best result by round” chart, key successes, and the remaining uncertainty.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BBO Capstone | 12 Rounds of Learning</dc:title>
  <dc:subject>Weeks 1-12 BBO presentation</dc:subject>
  <dc:creator>BBO Capstone</dc:creator>
  <cp:lastModifiedBy>BBO Capstone</cp:lastModifiedBy>
  <cp:revision>1</cp:revision>
  <dcterms:created xsi:type="dcterms:W3CDTF">2026-10-13T14:20:45Z</dcterms:created>
  <dcterms:modified xsi:type="dcterms:W3CDTF">2026-10-13T14:20:45Z</dcterms:modified>
</cp:coreProperties>
</file>